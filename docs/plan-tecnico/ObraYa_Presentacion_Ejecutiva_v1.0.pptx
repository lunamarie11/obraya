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8" r:id="rId19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828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400" b="0" i="0">
                <a:solidFill>
                  <a:srgbClr val="FFFFFF"/>
                </a:solidFill>
                <a:latin typeface="Calibri"/>
              </a:rPr>
              <a:t>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54864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ObraYa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8229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 i="1">
                <a:solidFill>
                  <a:srgbClr val="BFCCF7"/>
                </a:solidFill>
                <a:latin typeface="Calibri"/>
              </a:rPr>
              <a:t>Plataforma de Última Milla para Materiales de Construcción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931920"/>
            <a:ext cx="54864" cy="6400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931920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0" i="1">
                <a:solidFill>
                  <a:srgbClr val="F5A623"/>
                </a:solidFill>
                <a:latin typeface="Calibri"/>
              </a:rPr>
              <a:t>"El PedidosYa de los materiales de construcción"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291072"/>
            <a:ext cx="8229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Presentación Ejecutiva  ·  Argentina  ·  Abril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291072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i="0">
                <a:solidFill>
                  <a:srgbClr val="BFCCF7"/>
                </a:solidFill>
                <a:latin typeface="Calibri"/>
              </a:rPr>
              <a:t>Confidencial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El Problema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30936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374751"/>
                </a:solidFill>
                <a:latin typeface="Calibri"/>
              </a:rPr>
              <a:t>Comprar materiales de construcción hoy es lento, caro y sin visibilidad.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27432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274320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371600"/>
            <a:ext cx="24688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0" i="0">
                <a:solidFill>
                  <a:srgbClr val="111827"/>
                </a:solidFill>
                <a:latin typeface="Calibri"/>
              </a:rPr>
              <a:t>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148840"/>
            <a:ext cx="2468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A56DB"/>
                </a:solidFill>
                <a:latin typeface="Calibri"/>
              </a:rPr>
              <a:t>Sin canal digital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651760"/>
            <a:ext cx="2468880" cy="3108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374751"/>
                </a:solidFill>
                <a:latin typeface="Calibri"/>
              </a:rPr>
              <a:t>Los fabricantes y corralones no tienen plataforma propia para vender online. Dependen de visitas presenciales o llamados telefónicos.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188720"/>
            <a:ext cx="27432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0" y="1188720"/>
            <a:ext cx="274320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1371600"/>
            <a:ext cx="24688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0" i="0">
                <a:solidFill>
                  <a:srgbClr val="111827"/>
                </a:solidFill>
                <a:latin typeface="Calibri"/>
              </a:rPr>
              <a:t>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148840"/>
            <a:ext cx="2468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A56DB"/>
                </a:solidFill>
                <a:latin typeface="Calibri"/>
              </a:rPr>
              <a:t>Stock invisible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651760"/>
            <a:ext cx="2468880" cy="3108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374751"/>
                </a:solidFill>
                <a:latin typeface="Calibri"/>
              </a:rPr>
              <a:t>El comprador no sabe si el producto está disponible hasta ir físicamente. No hay info de precios ni stock en tiempo real.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188720"/>
            <a:ext cx="27432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188720"/>
            <a:ext cx="274320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1371600"/>
            <a:ext cx="24688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0" i="0">
                <a:solidFill>
                  <a:srgbClr val="111827"/>
                </a:solidFill>
                <a:latin typeface="Calibri"/>
              </a:rPr>
              <a:t>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148840"/>
            <a:ext cx="2468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A56DB"/>
                </a:solidFill>
                <a:latin typeface="Calibri"/>
              </a:rPr>
              <a:t>Logística caótica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651760"/>
            <a:ext cx="2468880" cy="3108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374751"/>
                </a:solidFill>
                <a:latin typeface="Calibri"/>
              </a:rPr>
              <a:t>Los fletes se pactan de manera informal. No hay tracking, ni ETA confiable. Los materiales llegan cuando "el camión puede".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60" y="1188720"/>
            <a:ext cx="27432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52560" y="1188720"/>
            <a:ext cx="274320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20" y="1371600"/>
            <a:ext cx="24688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0" i="0">
                <a:solidFill>
                  <a:srgbClr val="111827"/>
                </a:solidFill>
                <a:latin typeface="Calibri"/>
              </a:rPr>
              <a:t>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2148840"/>
            <a:ext cx="2468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A56DB"/>
                </a:solidFill>
                <a:latin typeface="Calibri"/>
              </a:rPr>
              <a:t>Pagos informales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2651760"/>
            <a:ext cx="2468880" cy="3108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374751"/>
                </a:solidFill>
                <a:latin typeface="Calibri"/>
              </a:rPr>
              <a:t>Gran parte de las transacciones son en efectivo o transferencias manuales, sin factura, sin trazabilidad.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374751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La Solución: ObraYa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577840" cy="512064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57784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5212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 i="0">
                <a:solidFill>
                  <a:srgbClr val="1A56DB"/>
                </a:solidFill>
                <a:latin typeface="Calibri"/>
              </a:rPr>
              <a:t>📱  Front de Usuarios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BFCCF7"/>
                </a:solidFill>
                <a:latin typeface="Calibri"/>
              </a:rPr>
              <a:t>→  App mobile (iOS/Android) + Web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BFCCF7"/>
                </a:solidFill>
                <a:latin typeface="Calibri"/>
              </a:rPr>
              <a:t>→  Catálogo con +50 categorías de materiales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BFCCF7"/>
                </a:solidFill>
                <a:latin typeface="Calibri"/>
              </a:rPr>
              <a:t>→  Búsqueda por zona y disponibilidad de stock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BFCCF7"/>
                </a:solidFill>
                <a:latin typeface="Calibri"/>
              </a:rPr>
              <a:t>→  Carrito multi-proveedor con flete calculado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BFCCF7"/>
                </a:solidFill>
                <a:latin typeface="Calibri"/>
              </a:rPr>
              <a:t>→  Checkout y pago digital (MercadoPago, transferencia)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BFCCF7"/>
                </a:solidFill>
                <a:latin typeface="Calibri"/>
              </a:rPr>
              <a:t>→  Tracking en tiempo real del pedido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BFCCF7"/>
                </a:solidFill>
                <a:latin typeface="Calibri"/>
              </a:rPr>
              <a:t>→  Historial, reseñas y perfil de usuario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43000"/>
            <a:ext cx="5577840" cy="512064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143000"/>
            <a:ext cx="5577840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234440"/>
            <a:ext cx="52120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 i="0">
                <a:solidFill>
                  <a:srgbClr val="F5A623"/>
                </a:solidFill>
                <a:latin typeface="Calibri"/>
              </a:rPr>
              <a:t>🏭  Backoffice Fabricantes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82880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BFCCF7"/>
                </a:solidFill>
                <a:latin typeface="Calibri"/>
              </a:rPr>
              <a:t>→  ABM de productos, precios y stock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BFCCF7"/>
                </a:solidFill>
                <a:latin typeface="Calibri"/>
              </a:rPr>
              <a:t>→  Gestión de pedidos entrantes en tiempo real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BFCCF7"/>
                </a:solidFill>
                <a:latin typeface="Calibri"/>
              </a:rPr>
              <a:t>→  Dashboard de ventas y reportes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BFCCF7"/>
                </a:solidFill>
                <a:latin typeface="Calibri"/>
              </a:rPr>
              <a:t>→  Zonas y tiempos de entrega configurables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BFCCF7"/>
                </a:solidFill>
                <a:latin typeface="Calibri"/>
              </a:rPr>
              <a:t>→  Roles y permisos por área (ventas, logística, admin)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BFCCF7"/>
                </a:solidFill>
                <a:latin typeface="Calibri"/>
              </a:rPr>
              <a:t>→  API de integración con ERP propio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BFCCF7"/>
                </a:solidFill>
                <a:latin typeface="Calibri"/>
              </a:rPr>
              <a:t>→  Facturación electrónica AFIP integrada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374751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Módulos de la Plataforma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27432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274320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61872"/>
            <a:ext cx="457200" cy="239572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371600"/>
            <a:ext cx="411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 i="0">
                <a:solidFill>
                  <a:srgbClr val="111827"/>
                </a:solidFill>
                <a:latin typeface="Calibri"/>
              </a:rPr>
              <a:t>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353312"/>
            <a:ext cx="2103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A56DB"/>
                </a:solidFill>
                <a:latin typeface="Calibri"/>
              </a:rPr>
              <a:t>Front Usuarios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1783080"/>
            <a:ext cx="210312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74751"/>
                </a:solidFill>
                <a:latin typeface="Calibri"/>
              </a:rPr>
              <a:t>App + web para el comprador final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188720"/>
            <a:ext cx="27432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0" y="1188720"/>
            <a:ext cx="27432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1261872"/>
            <a:ext cx="457200" cy="239572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1371600"/>
            <a:ext cx="411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 i="0">
                <a:solidFill>
                  <a:srgbClr val="111827"/>
                </a:solidFill>
                <a:latin typeface="Calibri"/>
              </a:rPr>
              <a:t>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1353312"/>
            <a:ext cx="2103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Backoffice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1783080"/>
            <a:ext cx="210312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74751"/>
                </a:solidFill>
                <a:latin typeface="Calibri"/>
              </a:rPr>
              <a:t>Panel de gestión para fabricantes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188720"/>
            <a:ext cx="27432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188720"/>
            <a:ext cx="274320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1261872"/>
            <a:ext cx="457200" cy="239572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1371600"/>
            <a:ext cx="411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 i="0">
                <a:solidFill>
                  <a:srgbClr val="111827"/>
                </a:solidFill>
                <a:latin typeface="Calibri"/>
              </a:rPr>
              <a:t>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1353312"/>
            <a:ext cx="2103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Integración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1783080"/>
            <a:ext cx="210312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74751"/>
                </a:solidFill>
                <a:latin typeface="Calibri"/>
              </a:rPr>
              <a:t>Open source, ABM, webhooks, SDKs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60" y="1188720"/>
            <a:ext cx="27432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2560" y="1188720"/>
            <a:ext cx="2743200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52560" y="1261872"/>
            <a:ext cx="457200" cy="239572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8280" y="1371600"/>
            <a:ext cx="411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 i="0">
                <a:solidFill>
                  <a:srgbClr val="111827"/>
                </a:solidFill>
                <a:latin typeface="Calibri"/>
              </a:rPr>
              <a:t>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1353312"/>
            <a:ext cx="2103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5A623"/>
                </a:solidFill>
                <a:latin typeface="Calibri"/>
              </a:rPr>
              <a:t>Pagos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1783080"/>
            <a:ext cx="210312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74751"/>
                </a:solidFill>
                <a:latin typeface="Calibri"/>
              </a:rPr>
              <a:t>MercadoPago, transferencias, AFIP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840480"/>
            <a:ext cx="27432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3840480"/>
            <a:ext cx="274320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3913632"/>
            <a:ext cx="457200" cy="239572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4023360"/>
            <a:ext cx="411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 i="0">
                <a:solidFill>
                  <a:srgbClr val="111827"/>
                </a:solidFill>
                <a:latin typeface="Calibri"/>
              </a:rPr>
              <a:t>🚛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" y="4005072"/>
            <a:ext cx="2103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EF4444"/>
                </a:solidFill>
                <a:latin typeface="Calibri"/>
              </a:rPr>
              <a:t>Logística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59" y="4434840"/>
            <a:ext cx="210312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74751"/>
                </a:solidFill>
                <a:latin typeface="Calibri"/>
              </a:rPr>
              <a:t>Flota propia + carriers integrados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0" y="3840480"/>
            <a:ext cx="27432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0" y="3840480"/>
            <a:ext cx="27432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0400" y="3913632"/>
            <a:ext cx="457200" cy="239572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46120" y="4023360"/>
            <a:ext cx="411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 i="0">
                <a:solidFill>
                  <a:srgbClr val="111827"/>
                </a:solidFill>
                <a:latin typeface="Calibri"/>
              </a:rPr>
              <a:t>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49039" y="4005072"/>
            <a:ext cx="2103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6B6D4"/>
                </a:solidFill>
                <a:latin typeface="Calibri"/>
              </a:rPr>
              <a:t>Productos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49039" y="4434840"/>
            <a:ext cx="210312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74751"/>
                </a:solidFill>
                <a:latin typeface="Calibri"/>
              </a:rPr>
              <a:t>Catálogo master con +50 categorías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80" y="3840480"/>
            <a:ext cx="27432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26480" y="3840480"/>
            <a:ext cx="2743200" cy="73152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26480" y="3913632"/>
            <a:ext cx="457200" cy="239572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72200" y="4023360"/>
            <a:ext cx="411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 i="0">
                <a:solidFill>
                  <a:srgbClr val="111827"/>
                </a:solidFill>
                <a:latin typeface="Calibri"/>
              </a:rPr>
              <a:t>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4005072"/>
            <a:ext cx="2103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84CC16"/>
                </a:solidFill>
                <a:latin typeface="Calibri"/>
              </a:rPr>
              <a:t>Oficios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75120" y="4434840"/>
            <a:ext cx="210312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74751"/>
                </a:solidFill>
                <a:latin typeface="Calibri"/>
              </a:rPr>
              <a:t>Directorio de profesionales del rubro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52560" y="3840480"/>
            <a:ext cx="27432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052560" y="3840480"/>
            <a:ext cx="2743200" cy="7315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052560" y="3913632"/>
            <a:ext cx="457200" cy="2395728"/>
          </a:xfrm>
          <a:prstGeom prst="rect">
            <a:avLst/>
          </a:prstGeom>
          <a:solidFill>
            <a:srgbClr val="F8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98280" y="4023360"/>
            <a:ext cx="411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 i="0">
                <a:solidFill>
                  <a:srgbClr val="111827"/>
                </a:solidFill>
                <a:latin typeface="Calibri"/>
              </a:rPr>
              <a:t>🏛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0" y="4005072"/>
            <a:ext cx="2103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EC4899"/>
                </a:solidFill>
                <a:latin typeface="Calibri"/>
              </a:rPr>
              <a:t>Escalabilidad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1200" y="4434840"/>
            <a:ext cx="210312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74751"/>
                </a:solidFill>
                <a:latin typeface="Calibri"/>
              </a:rPr>
              <a:t>Gobierno, universidades, licitaciones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374751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MVP: Backoffice para Fabricantes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⚡ PRIMERA PRIORIDAD DE DESARROLLO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3657600" cy="228600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3657600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37160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371600"/>
            <a:ext cx="2834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59669"/>
                </a:solidFill>
                <a:latin typeface="Calibri"/>
              </a:rPr>
              <a:t>ABM de Productos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1874519"/>
            <a:ext cx="3429000" cy="1508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FCCF7"/>
                </a:solidFill>
                <a:latin typeface="Calibri"/>
              </a:rPr>
              <a:t>Alta, baja y modificación de productos con imágenes, variantes y fichas técnicas PDF.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234440"/>
            <a:ext cx="3657600" cy="228600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1234440"/>
            <a:ext cx="3657600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137160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371600"/>
            <a:ext cx="2834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59669"/>
                </a:solidFill>
                <a:latin typeface="Calibri"/>
              </a:rPr>
              <a:t>Gestión de Stock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1874519"/>
            <a:ext cx="3429000" cy="1508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FCCF7"/>
                </a:solidFill>
                <a:latin typeface="Calibri"/>
              </a:rPr>
              <a:t>Stock por depósito y zona. Alertas de bajo inventario. Actualizaciones masivas por CSV.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234440"/>
            <a:ext cx="3657600" cy="228600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234440"/>
            <a:ext cx="3657600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137160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371600"/>
            <a:ext cx="2834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59669"/>
                </a:solidFill>
                <a:latin typeface="Calibri"/>
              </a:rPr>
              <a:t>Gestión de Pedidos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874519"/>
            <a:ext cx="3429000" cy="1508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FCCF7"/>
                </a:solidFill>
                <a:latin typeface="Calibri"/>
              </a:rPr>
              <a:t>Recepción, aceptación, preparación y despacho con notificaciones en cada estado.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749039"/>
            <a:ext cx="3657600" cy="228600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3749039"/>
            <a:ext cx="3657600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79" y="388620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886200"/>
            <a:ext cx="2834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59669"/>
                </a:solidFill>
                <a:latin typeface="Calibri"/>
              </a:rPr>
              <a:t>Dashboard de Ventas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" y="4389120"/>
            <a:ext cx="3429000" cy="1508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FCCF7"/>
                </a:solidFill>
                <a:latin typeface="Calibri"/>
              </a:rPr>
              <a:t>KPIs en tiempo real: ventas, ticket medio, productos más vendidos, conversión por zona.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3749039"/>
            <a:ext cx="3657600" cy="228600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06240" y="3749039"/>
            <a:ext cx="3657600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400" y="388620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3886200"/>
            <a:ext cx="2834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59669"/>
                </a:solidFill>
                <a:latin typeface="Calibri"/>
              </a:rPr>
              <a:t>Roles y Permisos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4389120"/>
            <a:ext cx="3429000" cy="1508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FCCF7"/>
                </a:solidFill>
                <a:latin typeface="Calibri"/>
              </a:rPr>
              <a:t>Admin, Vendedor, Logística y Contabilidad con accesos granulares por módulo.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3749039"/>
            <a:ext cx="3657600" cy="228600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38160" y="3749039"/>
            <a:ext cx="3657600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20" y="388620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3886200"/>
            <a:ext cx="28346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59669"/>
                </a:solidFill>
                <a:latin typeface="Calibri"/>
              </a:rPr>
              <a:t>Config. Logística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4389120"/>
            <a:ext cx="3429000" cy="1508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FCCF7"/>
                </a:solidFill>
                <a:latin typeface="Calibri"/>
              </a:rPr>
              <a:t>Zonas de entrega, franjas horarias, flota propia o integración con carriers externos.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374751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Pagos &amp; Logística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5394960" cy="548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5394960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5029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F5A623"/>
                </a:solidFill>
                <a:latin typeface="Calibri"/>
              </a:rPr>
              <a:t>💳  Módulo de Pagos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64008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11827"/>
                </a:solidFill>
                <a:latin typeface="Calibri"/>
              </a:rPr>
              <a:t>MercadoPago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874519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74751"/>
                </a:solidFill>
                <a:latin typeface="Calibri"/>
              </a:rPr>
              <a:t>Tarjetas, QR, link de pago, hasta 12 cuotas sin interés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42032"/>
            <a:ext cx="64008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542032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11827"/>
                </a:solidFill>
                <a:latin typeface="Calibri"/>
              </a:rPr>
              <a:t>Transferencia CBU/CVU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542032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74751"/>
                </a:solidFill>
                <a:latin typeface="Calibri"/>
              </a:rPr>
              <a:t>Integración con COELSA para pagos inmediatos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09544"/>
            <a:ext cx="64008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209544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11827"/>
                </a:solidFill>
                <a:latin typeface="Calibri"/>
              </a:rPr>
              <a:t>Seña + Saldo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3209544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74751"/>
                </a:solidFill>
                <a:latin typeface="Calibri"/>
              </a:rPr>
              <a:t>Para pedidos de alto monto: parcialidad contra entrega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77056"/>
            <a:ext cx="64008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877056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11827"/>
                </a:solidFill>
                <a:latin typeface="Calibri"/>
              </a:rPr>
              <a:t>Split Automático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3877056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74751"/>
                </a:solidFill>
                <a:latin typeface="Calibri"/>
              </a:rPr>
              <a:t>ObraYa cobra comisión; el resto va al fabricante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544568"/>
            <a:ext cx="64008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544568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11827"/>
                </a:solidFill>
                <a:latin typeface="Calibri"/>
              </a:rPr>
              <a:t>Facturación AFIP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4544568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74751"/>
                </a:solidFill>
                <a:latin typeface="Calibri"/>
              </a:rPr>
              <a:t>Facturas A y B automáticas vía web services AFIP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212079"/>
            <a:ext cx="64008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212079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11827"/>
                </a:solidFill>
                <a:latin typeface="Calibri"/>
              </a:rPr>
              <a:t>Retención de fondos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5212079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74751"/>
                </a:solidFill>
                <a:latin typeface="Calibri"/>
              </a:rPr>
              <a:t>Liberación al fabricante post-confirmación de entrega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1097280"/>
            <a:ext cx="5577840" cy="548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1097280"/>
            <a:ext cx="5577840" cy="731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1234440"/>
            <a:ext cx="52120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1A56DB"/>
                </a:solidFill>
                <a:latin typeface="Calibri"/>
              </a:rPr>
              <a:t>🚛  Módulo de Logística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1874519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A56DB"/>
                </a:solidFill>
                <a:latin typeface="Calibri"/>
              </a:rPr>
              <a:t>Logística Propia (Last-Mile)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2377440"/>
            <a:ext cx="64008" cy="2286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2286000"/>
            <a:ext cx="5029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74751"/>
                </a:solidFill>
                <a:latin typeface="Calibri"/>
              </a:rPr>
              <a:t>Flota de camionetas/camiones georeferenciados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2788920"/>
            <a:ext cx="64008" cy="2286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2697480"/>
            <a:ext cx="5029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74751"/>
                </a:solidFill>
                <a:latin typeface="Calibri"/>
              </a:rPr>
              <a:t>Driver App con asignación automática de pedidos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92240" y="3200400"/>
            <a:ext cx="64008" cy="2286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3108960"/>
            <a:ext cx="5029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74751"/>
                </a:solidFill>
                <a:latin typeface="Calibri"/>
              </a:rPr>
              <a:t>Ruteo optimizado con Google Directions API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3611880"/>
            <a:ext cx="64008" cy="2286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3520440"/>
            <a:ext cx="5029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74751"/>
                </a:solidFill>
                <a:latin typeface="Calibri"/>
              </a:rPr>
              <a:t>Prueba de entrega: foto + firma + GPS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02336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Logística Tercerizada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92240" y="4526279"/>
            <a:ext cx="64008" cy="228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5120" y="4434840"/>
            <a:ext cx="5029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74751"/>
                </a:solidFill>
                <a:latin typeface="Calibri"/>
              </a:rPr>
              <a:t>Andreani, OCA, Correo Argentino integrados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92240" y="4937759"/>
            <a:ext cx="64008" cy="228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0" y="4846320"/>
            <a:ext cx="5029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74751"/>
                </a:solidFill>
                <a:latin typeface="Calibri"/>
              </a:rPr>
              <a:t>Marketplace de transportistas independientes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92240" y="5349240"/>
            <a:ext cx="64008" cy="228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5120" y="5257800"/>
            <a:ext cx="5029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74751"/>
                </a:solidFill>
                <a:latin typeface="Calibri"/>
              </a:rPr>
              <a:t>API unificada de cotización en tiempo real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92240" y="5760719"/>
            <a:ext cx="64008" cy="228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75120" y="5669279"/>
            <a:ext cx="5029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74751"/>
                </a:solidFill>
                <a:latin typeface="Calibri"/>
              </a:rPr>
              <a:t>Tracking unificado sin importar el carrier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374751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Integración de Empresas &amp; Fomentación de Oficios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577840" cy="5303520"/>
          </a:xfrm>
          <a:prstGeom prst="rect">
            <a:avLst/>
          </a:prstGeom>
          <a:solidFill>
            <a:srgbClr val="1A1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57784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52120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A78BFA"/>
                </a:solidFill>
                <a:latin typeface="Calibri"/>
              </a:rPr>
              <a:t>🔌  API de Integración (Open Source)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64008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A78BFA"/>
                </a:solidFill>
                <a:latin typeface="Calibri"/>
              </a:rPr>
              <a:t>API 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1828800"/>
            <a:ext cx="3429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FCCF7"/>
                </a:solidFill>
                <a:latin typeface="Calibri"/>
              </a:rPr>
              <a:t>Documentación Swagger/OpenAPI 3.0 pública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42032"/>
            <a:ext cx="64008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450592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A78BFA"/>
                </a:solidFill>
                <a:latin typeface="Calibri"/>
              </a:rPr>
              <a:t>ABM Completo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2450592"/>
            <a:ext cx="3429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FCCF7"/>
                </a:solidFill>
                <a:latin typeface="Calibri"/>
              </a:rPr>
              <a:t>Alta, baja y modificación via API de empresas, productos, pedidos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163824"/>
            <a:ext cx="64008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072384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A78BFA"/>
                </a:solidFill>
                <a:latin typeface="Calibri"/>
              </a:rPr>
              <a:t>Webhooks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3072384"/>
            <a:ext cx="3429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FCCF7"/>
                </a:solidFill>
                <a:latin typeface="Calibri"/>
              </a:rPr>
              <a:t>Notificaciones en tiempo real a sistemas externos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85615"/>
            <a:ext cx="64008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694176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A78BFA"/>
                </a:solidFill>
                <a:latin typeface="Calibri"/>
              </a:rPr>
              <a:t>SDKs Oficiales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3694176"/>
            <a:ext cx="3429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FCCF7"/>
                </a:solidFill>
                <a:latin typeface="Calibri"/>
              </a:rPr>
              <a:t>Python, Node.js y PHP para facilitar integraciones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07408"/>
            <a:ext cx="64008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315968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A78BFA"/>
                </a:solidFill>
                <a:latin typeface="Calibri"/>
              </a:rPr>
              <a:t>Sandbox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4315968"/>
            <a:ext cx="3429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FCCF7"/>
                </a:solidFill>
                <a:latin typeface="Calibri"/>
              </a:rPr>
              <a:t>Ambiente de pruebas sin afectar producción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029200"/>
            <a:ext cx="64008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93776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A78BFA"/>
                </a:solidFill>
                <a:latin typeface="Calibri"/>
              </a:rPr>
              <a:t>OAuth 2.0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20" y="4937760"/>
            <a:ext cx="3429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FCCF7"/>
                </a:solidFill>
                <a:latin typeface="Calibri"/>
              </a:rPr>
              <a:t>Autenticación segura con scopes granulares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650992"/>
            <a:ext cx="64008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559552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A78BFA"/>
                </a:solidFill>
                <a:latin typeface="Calibri"/>
              </a:rPr>
              <a:t>Open Source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20" y="5559552"/>
            <a:ext cx="3429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FCCF7"/>
                </a:solidFill>
                <a:latin typeface="Calibri"/>
              </a:rPr>
              <a:t>Componente de integración liberado en GitHub para la comunidad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1143000"/>
            <a:ext cx="5577840" cy="5303520"/>
          </a:xfrm>
          <a:prstGeom prst="rect">
            <a:avLst/>
          </a:prstGeom>
          <a:solidFill>
            <a:srgbClr val="142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1143000"/>
            <a:ext cx="557784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1261872"/>
            <a:ext cx="52120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059669"/>
                </a:solidFill>
                <a:latin typeface="Calibri"/>
              </a:rPr>
              <a:t>🔨  Fomentación de Oficios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1920240"/>
            <a:ext cx="64008" cy="3840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1828800"/>
            <a:ext cx="18288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Directorio Verificado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1828800"/>
            <a:ext cx="32004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FCCF7"/>
                </a:solidFill>
                <a:latin typeface="Calibri"/>
              </a:rPr>
              <a:t>Albañiles, plomeros, electricistas, pintores, gasistas, yeseros certificados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2633472"/>
            <a:ext cx="64008" cy="3840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0" y="2542032"/>
            <a:ext cx="18288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Perfil Profesional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9640" y="2542032"/>
            <a:ext cx="32004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FCCF7"/>
                </a:solidFill>
                <a:latin typeface="Calibri"/>
              </a:rPr>
              <a:t>Portfolio, calificaciones, zona de trabajo y disponibilidad real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92240" y="3346704"/>
            <a:ext cx="64008" cy="3840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3255264"/>
            <a:ext cx="18288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Solicitud Integrada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49640" y="3255264"/>
            <a:ext cx="32004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FCCF7"/>
                </a:solidFill>
                <a:latin typeface="Calibri"/>
              </a:rPr>
              <a:t>Compra materiales + solicita instalador en un único flujo de usuario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92240" y="4059935"/>
            <a:ext cx="64008" cy="3840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0" y="3968496"/>
            <a:ext cx="18288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Pagos por Escrow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49640" y="3968496"/>
            <a:ext cx="32004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FCCF7"/>
                </a:solidFill>
                <a:latin typeface="Calibri"/>
              </a:rPr>
              <a:t>Pago liberado al profesional sólo al confirmar trabajo completado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92240" y="4773168"/>
            <a:ext cx="64008" cy="3840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75120" y="4681728"/>
            <a:ext cx="18288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Certificación UOCRA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49640" y="4681728"/>
            <a:ext cx="32004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FCCF7"/>
                </a:solidFill>
                <a:latin typeface="Calibri"/>
              </a:rPr>
              <a:t>Convenio con sindicatos y escuelas técnicas para validar habilidades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92240" y="5486400"/>
            <a:ext cx="64008" cy="3840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75120" y="5394960"/>
            <a:ext cx="18288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Integración Externa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49640" y="5394960"/>
            <a:ext cx="32004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BFCCF7"/>
                </a:solidFill>
                <a:latin typeface="Calibri"/>
              </a:rPr>
              <a:t>GetNinjas, Workana, LinkedIn para captación de profesionales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374751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Escalabilidad: Expansión Vertical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1">
                <a:solidFill>
                  <a:srgbClr val="BFCCF7"/>
                </a:solidFill>
                <a:latin typeface="Calibri"/>
              </a:rPr>
              <a:t>ObraYa es una plataforma, no solo una app. Su arquitectura soporta múltiples verticales de negocio.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36576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3657600" cy="6400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325880"/>
            <a:ext cx="548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0" i="0">
                <a:solidFill>
                  <a:srgbClr val="111827"/>
                </a:solidFill>
                <a:latin typeface="Calibri"/>
              </a:rPr>
              <a:t>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325880"/>
            <a:ext cx="2743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EC4899"/>
                </a:solidFill>
                <a:latin typeface="Calibri"/>
              </a:rPr>
              <a:t>Arte &amp; Diseño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1847088"/>
            <a:ext cx="342900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74751"/>
                </a:solidFill>
                <a:latin typeface="Calibri"/>
              </a:rPr>
              <a:t>Materiales especiales para artistas, escultores y diseñadores de interiores. Catálogo curado con proveedores especializados.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188720"/>
            <a:ext cx="36576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1188720"/>
            <a:ext cx="365760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1325880"/>
            <a:ext cx="548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0" i="0">
                <a:solidFill>
                  <a:srgbClr val="111827"/>
                </a:solidFill>
                <a:latin typeface="Calibri"/>
              </a:rPr>
              <a:t>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59" y="1325880"/>
            <a:ext cx="2743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7C3AED"/>
                </a:solidFill>
                <a:latin typeface="Calibri"/>
              </a:rPr>
              <a:t>Universidades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1847088"/>
            <a:ext cx="342900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74751"/>
                </a:solidFill>
                <a:latin typeface="Calibri"/>
              </a:rPr>
              <a:t>Canal institucional para facultades de arquitectura e ingeniería. Compras colectivas, facturación a UBA, UNC, UTN.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188720"/>
            <a:ext cx="36576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188720"/>
            <a:ext cx="3657600" cy="6400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1325880"/>
            <a:ext cx="548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0" i="0">
                <a:solidFill>
                  <a:srgbClr val="111827"/>
                </a:solidFill>
                <a:latin typeface="Calibri"/>
              </a:rPr>
              <a:t>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1325880"/>
            <a:ext cx="2743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A56DB"/>
                </a:solidFill>
                <a:latin typeface="Calibri"/>
              </a:rPr>
              <a:t>Gobierno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1847088"/>
            <a:ext cx="342900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74751"/>
                </a:solidFill>
                <a:latin typeface="Calibri"/>
              </a:rPr>
              <a:t>Portal de compras para obras municipales y provinciales. Trazabilidad, presupuestación y cumplimiento normativo.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794760"/>
            <a:ext cx="36576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3794760"/>
            <a:ext cx="3657600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79" y="3931920"/>
            <a:ext cx="548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0" i="0">
                <a:solidFill>
                  <a:srgbClr val="111827"/>
                </a:solidFill>
                <a:latin typeface="Calibri"/>
              </a:rPr>
              <a:t>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3931920"/>
            <a:ext cx="2743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59669"/>
                </a:solidFill>
                <a:latin typeface="Calibri"/>
              </a:rPr>
              <a:t>Licitaciones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" y="4453128"/>
            <a:ext cx="342900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74751"/>
                </a:solidFill>
                <a:latin typeface="Calibri"/>
              </a:rPr>
              <a:t>Módulo de licitaciones públicas y privadas. Gestión documental, comparación de ofertas y firma digital.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3794760"/>
            <a:ext cx="36576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06240" y="3794760"/>
            <a:ext cx="365760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400" y="3931920"/>
            <a:ext cx="548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0" i="0">
                <a:solidFill>
                  <a:srgbClr val="111827"/>
                </a:solidFill>
                <a:latin typeface="Calibri"/>
              </a:rPr>
              <a:t>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59" y="3931920"/>
            <a:ext cx="2743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5A623"/>
                </a:solidFill>
                <a:latin typeface="Calibri"/>
              </a:rPr>
              <a:t>Transporte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4453128"/>
            <a:ext cx="342900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74751"/>
                </a:solidFill>
                <a:latin typeface="Calibri"/>
              </a:rPr>
              <a:t>Red de transportistas certificados para grandes volúmenes: viales, obras civiles, megaconstrucciones.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3794760"/>
            <a:ext cx="36576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38160" y="3794760"/>
            <a:ext cx="365760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20" y="3931920"/>
            <a:ext cx="548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0" i="0">
                <a:solidFill>
                  <a:srgbClr val="111827"/>
                </a:solidFill>
                <a:latin typeface="Calibri"/>
              </a:rPr>
              <a:t>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3931920"/>
            <a:ext cx="2743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EF4444"/>
                </a:solidFill>
                <a:latin typeface="Calibri"/>
              </a:rPr>
              <a:t>Financiamiento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4453128"/>
            <a:ext cx="342900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74751"/>
                </a:solidFill>
                <a:latin typeface="Calibri"/>
              </a:rPr>
              <a:t>"Compra ahora, paga al cobrar la obra." Crédito a constructoras via fintech partner integrado.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374751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Stack Tecnológico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2103120" cy="54864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61288"/>
            <a:ext cx="1920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A56DB"/>
                </a:solidFill>
                <a:latin typeface="Calibri"/>
              </a:rPr>
              <a:t>Frontend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1097280"/>
            <a:ext cx="5669280" cy="548640"/>
          </a:xfrm>
          <a:prstGeom prst="rect">
            <a:avLst/>
          </a:prstGeom>
          <a:solidFill>
            <a:srgbClr val="1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1161288"/>
            <a:ext cx="5394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React.js + Next.js  ·  React Native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097280"/>
            <a:ext cx="3657600" cy="548640"/>
          </a:xfrm>
          <a:prstGeom prst="rect">
            <a:avLst/>
          </a:prstGeom>
          <a:solidFill>
            <a:srgbClr val="12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161288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93C5FD"/>
                </a:solidFill>
                <a:latin typeface="Calibri"/>
              </a:rPr>
              <a:t>⬜ Web SSR + App iOS/Android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773936"/>
            <a:ext cx="2103120" cy="54864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837943"/>
            <a:ext cx="1920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A56DB"/>
                </a:solidFill>
                <a:latin typeface="Calibri"/>
              </a:rPr>
              <a:t>Backend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1773936"/>
            <a:ext cx="5669280" cy="548640"/>
          </a:xfrm>
          <a:prstGeom prst="rect">
            <a:avLst/>
          </a:prstGeom>
          <a:solidFill>
            <a:srgbClr val="1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06040" y="1837943"/>
            <a:ext cx="5394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NestJS (Node.js)  ·  Microservicios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773936"/>
            <a:ext cx="3657600" cy="548640"/>
          </a:xfrm>
          <a:prstGeom prst="rect">
            <a:avLst/>
          </a:prstGeom>
          <a:solidFill>
            <a:srgbClr val="12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837943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93C5FD"/>
                </a:solidFill>
                <a:latin typeface="Calibri"/>
              </a:rPr>
              <a:t>⬜ Modular y escalable por dominio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450591"/>
            <a:ext cx="2103120" cy="54864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514599"/>
            <a:ext cx="1920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A56DB"/>
                </a:solidFill>
                <a:latin typeface="Calibri"/>
              </a:rPr>
              <a:t>Base de Datos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68880" y="2450591"/>
            <a:ext cx="5669280" cy="548640"/>
          </a:xfrm>
          <a:prstGeom prst="rect">
            <a:avLst/>
          </a:prstGeom>
          <a:solidFill>
            <a:srgbClr val="1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06040" y="2514599"/>
            <a:ext cx="5394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PostgreSQL  +  Redis  +  Elasticsearch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2450591"/>
            <a:ext cx="3657600" cy="548640"/>
          </a:xfrm>
          <a:prstGeom prst="rect">
            <a:avLst/>
          </a:prstGeom>
          <a:solidFill>
            <a:srgbClr val="12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2514599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93C5FD"/>
                </a:solidFill>
                <a:latin typeface="Calibri"/>
              </a:rPr>
              <a:t>⬜ RDBMS + Caché + Búsqueda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127248"/>
            <a:ext cx="2103120" cy="54864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191256"/>
            <a:ext cx="1920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A56DB"/>
                </a:solidFill>
                <a:latin typeface="Calibri"/>
              </a:rPr>
              <a:t>Event Bus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68880" y="3127248"/>
            <a:ext cx="5669280" cy="548640"/>
          </a:xfrm>
          <a:prstGeom prst="rect">
            <a:avLst/>
          </a:prstGeom>
          <a:solidFill>
            <a:srgbClr val="1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06040" y="3191256"/>
            <a:ext cx="5394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Apache Kafka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3127248"/>
            <a:ext cx="3657600" cy="548640"/>
          </a:xfrm>
          <a:prstGeom prst="rect">
            <a:avLst/>
          </a:prstGeom>
          <a:solidFill>
            <a:srgbClr val="12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3191256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93C5FD"/>
                </a:solidFill>
                <a:latin typeface="Calibri"/>
              </a:rPr>
              <a:t>⬜ Comunicación asíncrona entre servicios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803904"/>
            <a:ext cx="2103120" cy="54864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3867912"/>
            <a:ext cx="1920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A56DB"/>
                </a:solidFill>
                <a:latin typeface="Calibri"/>
              </a:rPr>
              <a:t>Pagos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68880" y="3803904"/>
            <a:ext cx="5669280" cy="548640"/>
          </a:xfrm>
          <a:prstGeom prst="rect">
            <a:avLst/>
          </a:prstGeom>
          <a:solidFill>
            <a:srgbClr val="1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06040" y="3867912"/>
            <a:ext cx="5394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MercadoPago SDK  +  AFIP Web Services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3803904"/>
            <a:ext cx="3657600" cy="548640"/>
          </a:xfrm>
          <a:prstGeom prst="rect">
            <a:avLst/>
          </a:prstGeom>
          <a:solidFill>
            <a:srgbClr val="12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3867912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93C5FD"/>
                </a:solidFill>
                <a:latin typeface="Calibri"/>
              </a:rPr>
              <a:t>⬜ Cobertura local argentina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480560"/>
            <a:ext cx="2103120" cy="54864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544568"/>
            <a:ext cx="1920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A56DB"/>
                </a:solidFill>
                <a:latin typeface="Calibri"/>
              </a:rPr>
              <a:t>Infraestructura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68880" y="4480560"/>
            <a:ext cx="5669280" cy="548640"/>
          </a:xfrm>
          <a:prstGeom prst="rect">
            <a:avLst/>
          </a:prstGeom>
          <a:solidFill>
            <a:srgbClr val="1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06040" y="4544568"/>
            <a:ext cx="5394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AWS  ·  Kubernetes  ·  GitHub Actions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0" y="4480560"/>
            <a:ext cx="3657600" cy="548640"/>
          </a:xfrm>
          <a:prstGeom prst="rect">
            <a:avLst/>
          </a:prstGeom>
          <a:solidFill>
            <a:srgbClr val="12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21040" y="4544568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93C5FD"/>
                </a:solidFill>
                <a:latin typeface="Calibri"/>
              </a:rPr>
              <a:t>⬜ Cloud São Paulo, CI/CD GitOps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5157216"/>
            <a:ext cx="2103120" cy="54864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5221224"/>
            <a:ext cx="1920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A56DB"/>
                </a:solidFill>
                <a:latin typeface="Calibri"/>
              </a:rPr>
              <a:t>Mapas/Tracking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468880" y="5157216"/>
            <a:ext cx="5669280" cy="548640"/>
          </a:xfrm>
          <a:prstGeom prst="rect">
            <a:avLst/>
          </a:prstGeom>
          <a:solidFill>
            <a:srgbClr val="1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06040" y="5221224"/>
            <a:ext cx="5394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Google Maps API  +  Firebase FCM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0" y="5157216"/>
            <a:ext cx="3657600" cy="548640"/>
          </a:xfrm>
          <a:prstGeom prst="rect">
            <a:avLst/>
          </a:prstGeom>
          <a:solidFill>
            <a:srgbClr val="12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21040" y="5221224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93C5FD"/>
                </a:solidFill>
                <a:latin typeface="Calibri"/>
              </a:rPr>
              <a:t>⬜ Ruteo + Push notifications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5833872"/>
            <a:ext cx="2103120" cy="54864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5897880"/>
            <a:ext cx="1920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A56DB"/>
                </a:solidFill>
                <a:latin typeface="Calibri"/>
              </a:rPr>
              <a:t>Monitoreo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68880" y="5833872"/>
            <a:ext cx="5669280" cy="548640"/>
          </a:xfrm>
          <a:prstGeom prst="rect">
            <a:avLst/>
          </a:prstGeom>
          <a:solidFill>
            <a:srgbClr val="1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606040" y="5897880"/>
            <a:ext cx="5394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Datadog  +  Sentry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600" y="5833872"/>
            <a:ext cx="3657600" cy="548640"/>
          </a:xfrm>
          <a:prstGeom prst="rect">
            <a:avLst/>
          </a:prstGeom>
          <a:solidFill>
            <a:srgbClr val="12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21040" y="5897880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93C5FD"/>
                </a:solidFill>
                <a:latin typeface="Calibri"/>
              </a:rPr>
              <a:t>⬜ APM, logs y alertas en tiempo real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374751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Modelo de Negocio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1161288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64008" cy="8686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" y="1188720"/>
            <a:ext cx="1645920" cy="86868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25880"/>
            <a:ext cx="15087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F5A623"/>
                </a:solidFill>
                <a:latin typeface="Calibri"/>
              </a:rPr>
              <a:t>💸 3–8%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1261872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11827"/>
                </a:solidFill>
                <a:latin typeface="Calibri"/>
              </a:rPr>
              <a:t>Comisión por Transacción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645920"/>
            <a:ext cx="96012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74751"/>
                </a:solidFill>
                <a:latin typeface="Calibri"/>
              </a:rPr>
              <a:t>Porcentaje del GMV descontado en cada venta según categoría y volumen del fabricante.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194560"/>
            <a:ext cx="1161288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194560"/>
            <a:ext cx="64008" cy="8686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" y="2194560"/>
            <a:ext cx="1645920" cy="86868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331720"/>
            <a:ext cx="15087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F5A623"/>
                </a:solidFill>
                <a:latin typeface="Calibri"/>
              </a:rPr>
              <a:t>📅 Suscripción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2267712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11827"/>
                </a:solidFill>
                <a:latin typeface="Calibri"/>
              </a:rPr>
              <a:t>Planes Fabricantes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2651760"/>
            <a:ext cx="96012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74751"/>
                </a:solidFill>
                <a:latin typeface="Calibri"/>
              </a:rPr>
              <a:t>Básico (gratis), Pro ($XX.000/mes), Enterprise (a negociar) con features adicionales.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200400"/>
            <a:ext cx="1161288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200400"/>
            <a:ext cx="64008" cy="8686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8328" y="3200400"/>
            <a:ext cx="1645920" cy="86868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337560"/>
            <a:ext cx="15087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F5A623"/>
                </a:solidFill>
                <a:latin typeface="Calibri"/>
              </a:rPr>
              <a:t>📣 Publicidad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3273552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11827"/>
                </a:solidFill>
                <a:latin typeface="Calibri"/>
              </a:rPr>
              <a:t>Espacios en Plataforma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3657600"/>
            <a:ext cx="96012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74751"/>
                </a:solidFill>
                <a:latin typeface="Calibri"/>
              </a:rPr>
              <a:t>Productos y marcas destacadas en home, categorías y resultados de búsqueda.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206240"/>
            <a:ext cx="1161288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4206240"/>
            <a:ext cx="64008" cy="8686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8328" y="4206240"/>
            <a:ext cx="1645920" cy="86868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4343400"/>
            <a:ext cx="15087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F5A623"/>
                </a:solidFill>
                <a:latin typeface="Calibri"/>
              </a:rPr>
              <a:t>🚚 Logística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4279392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11827"/>
                </a:solidFill>
                <a:latin typeface="Calibri"/>
              </a:rPr>
              <a:t>Margen de Flete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48840" y="4663440"/>
            <a:ext cx="96012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74751"/>
                </a:solidFill>
                <a:latin typeface="Calibri"/>
              </a:rPr>
              <a:t>Margen sobre logística propia y comisión del 8% en logística tercerizada.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212080"/>
            <a:ext cx="1161288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5212080"/>
            <a:ext cx="64008" cy="8686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8328" y="5212080"/>
            <a:ext cx="1645920" cy="86868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5349240"/>
            <a:ext cx="15087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F5A623"/>
                </a:solidFill>
                <a:latin typeface="Calibri"/>
              </a:rPr>
              <a:t>🔨 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48840" y="5285232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11827"/>
                </a:solidFill>
                <a:latin typeface="Calibri"/>
              </a:rPr>
              <a:t>Servicios de Oficios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48840" y="5669280"/>
            <a:ext cx="96012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74751"/>
                </a:solidFill>
                <a:latin typeface="Calibri"/>
              </a:rPr>
              <a:t>Comisión sobre cada servicio de instalación/mano de obra gestionado en plataforma.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374751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Roadmap de Desarrollo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3200400"/>
            <a:ext cx="11704320" cy="54864"/>
          </a:xfrm>
          <a:prstGeom prst="rect">
            <a:avLst/>
          </a:prstGeom>
          <a:solidFill>
            <a:srgbClr val="374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3017520"/>
            <a:ext cx="36576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188720"/>
            <a:ext cx="1737360" cy="178308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188720"/>
            <a:ext cx="1737360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261872"/>
            <a:ext cx="1645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Fase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0020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93C5FD"/>
                </a:solidFill>
                <a:latin typeface="Calibri"/>
              </a:rPr>
              <a:t>Abr–May 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938528"/>
            <a:ext cx="16459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Setup
Infraestructura,
CI/CD, 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33756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059669"/>
                </a:solidFill>
                <a:latin typeface="Calibri"/>
              </a:rP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80360" y="3017520"/>
            <a:ext cx="365760" cy="3657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23160" y="1188720"/>
            <a:ext cx="1737360" cy="178308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1188720"/>
            <a:ext cx="1737360" cy="6400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80" y="1261872"/>
            <a:ext cx="1645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A56DB"/>
                </a:solidFill>
                <a:latin typeface="Calibri"/>
              </a:rPr>
              <a:t>Fase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160020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93C5FD"/>
                </a:solidFill>
                <a:latin typeface="Calibri"/>
              </a:rPr>
              <a:t>Jun–Ago 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1938528"/>
            <a:ext cx="16459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MVP
Backoffice
Fabricantes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33756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1A56DB"/>
                </a:solidFill>
                <a:latin typeface="Calibri"/>
              </a:rPr>
              <a:t>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3017520"/>
            <a:ext cx="365760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06240" y="1188720"/>
            <a:ext cx="1737360" cy="178308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06240" y="1188720"/>
            <a:ext cx="173736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51959" y="1261872"/>
            <a:ext cx="1645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Fase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59" y="160020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93C5FD"/>
                </a:solidFill>
                <a:latin typeface="Calibri"/>
              </a:rPr>
              <a:t>Sep–Nov 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59" y="1938528"/>
            <a:ext cx="16459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Front
Usuarios
App + Web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59" y="333756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7C3AED"/>
                </a:solidFill>
                <a:latin typeface="Calibri"/>
              </a:rPr>
              <a:t>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3017520"/>
            <a:ext cx="36576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89320" y="1188720"/>
            <a:ext cx="1737360" cy="178308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89320" y="1188720"/>
            <a:ext cx="173736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0" y="1261872"/>
            <a:ext cx="1645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5A623"/>
                </a:solidFill>
                <a:latin typeface="Calibri"/>
              </a:rPr>
              <a:t>Fase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160020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93C5FD"/>
                </a:solidFill>
                <a:latin typeface="Calibri"/>
              </a:rPr>
              <a:t>Dic 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1938528"/>
            <a:ext cx="16459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Lanzamiento
AMBA
20+ fab.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333756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F5A623"/>
                </a:solidFill>
                <a:latin typeface="Calibri"/>
              </a:rPr>
              <a:t>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3017520"/>
            <a:ext cx="365760" cy="365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72400" y="1188720"/>
            <a:ext cx="1737360" cy="178308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72400" y="1188720"/>
            <a:ext cx="173736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18119" y="1261872"/>
            <a:ext cx="1645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EF4444"/>
                </a:solidFill>
                <a:latin typeface="Calibri"/>
              </a:rPr>
              <a:t>Fase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18119" y="160020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93C5FD"/>
                </a:solidFill>
                <a:latin typeface="Calibri"/>
              </a:rPr>
              <a:t>Ene–Mar 27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19" y="1938528"/>
            <a:ext cx="16459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Logística
Propia
Driver App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19" y="333756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EF4444"/>
                </a:solidFill>
                <a:latin typeface="Calibri"/>
              </a:rPr>
              <a:t>▼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012680" y="3017520"/>
            <a:ext cx="365760" cy="36576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555480" y="1188720"/>
            <a:ext cx="1737360" cy="1783080"/>
          </a:xfrm>
          <a:prstGeom prst="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555480" y="1188720"/>
            <a:ext cx="1737360" cy="6400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01200" y="1261872"/>
            <a:ext cx="1645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EC4899"/>
                </a:solidFill>
                <a:latin typeface="Calibri"/>
              </a:rPr>
              <a:t>Fase 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0" y="1600200"/>
            <a:ext cx="1645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93C5FD"/>
                </a:solidFill>
                <a:latin typeface="Calibri"/>
              </a:rPr>
              <a:t>Abr–Jun 27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0" y="1938528"/>
            <a:ext cx="164592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Oficios
&amp; Expansión
Córdoba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0" y="3337560"/>
            <a:ext cx="457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EC4899"/>
                </a:solidFill>
                <a:latin typeface="Calibri"/>
              </a:rPr>
              <a:t>▼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6309360"/>
            <a:ext cx="11430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📍 Ciudad de Buenos Aires / AMBA como mercado inicial · Escalado por región según tracción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47120" y="649224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 i="0">
                <a:solidFill>
                  <a:srgbClr val="374751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828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400" b="0" i="0">
                <a:solidFill>
                  <a:srgbClr val="FFFFFF"/>
                </a:solidFill>
                <a:latin typeface="Calibri"/>
              </a:rPr>
              <a:t>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ObraYa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97480"/>
            <a:ext cx="8229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 i="1">
                <a:solidFill>
                  <a:srgbClr val="BFCCF7"/>
                </a:solidFill>
                <a:latin typeface="Calibri"/>
              </a:rPr>
              <a:t>Construyamos juntos el futuro digital de la construcción.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49039"/>
            <a:ext cx="54864" cy="1645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6400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F5A623"/>
                </a:solidFill>
                <a:latin typeface="Calibri"/>
              </a:rPr>
              <a:t>Próximos Pasos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062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BFCCF7"/>
                </a:solidFill>
                <a:latin typeface="Calibri"/>
              </a:rPr>
              <a:t>→  Validar con 5 fabricantes ancla dispuestos a participar en el MVP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BFCCF7"/>
                </a:solidFill>
                <a:latin typeface="Calibri"/>
              </a:rPr>
              <a:t>→  Contratar CTO/Tech Lead para liderar la arquitectura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BFCCF7"/>
                </a:solidFill>
                <a:latin typeface="Calibri"/>
              </a:rPr>
              <a:t>→  Desarrollar Backoffice (Fase 1 del roadmap)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BFCCF7"/>
                </a:solidFill>
                <a:latin typeface="Calibri"/>
              </a:rPr>
              <a:t>→  Cerrar acuerdo con MercadoPago y carrier logístico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91072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ObraYa — Plan Técnico Confidencial — Abril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291072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 i="0">
                <a:solidFill>
                  <a:srgbClr val="BFCCF7"/>
                </a:solidFill>
                <a:latin typeface="Calibri"/>
              </a:rPr>
              <a:t>Confidencial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🧮 Calculadora de Construcción "Llave en Mano"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7E8F9"/>
                </a:solidFill>
                <a:latin typeface="Calibri"/>
              </a:rPr>
              <a:t>El usuario ingresa su proyecto y ObraYa genera el presupuesto completo de materiales + servicio de constructor.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0972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B6D4"/>
                </a:solidFill>
                <a:latin typeface="Calibri"/>
              </a:rPr>
              <a:t>📋  Flujo del Usuario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54480"/>
            <a:ext cx="347472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5544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554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7E8F9"/>
                </a:solidFill>
                <a:latin typeface="Calibri"/>
              </a:rPr>
              <a:t>Tipo de Obra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901952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5B4CC"/>
                </a:solidFill>
                <a:latin typeface="Calibri"/>
              </a:rPr>
              <a:t>Casa, ampliación, local, galpón, baño, garage…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258568"/>
            <a:ext cx="347472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25856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25856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7E8F9"/>
                </a:solidFill>
                <a:latin typeface="Calibri"/>
              </a:rPr>
              <a:t>Datos Básicos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606039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5B4CC"/>
                </a:solidFill>
                <a:latin typeface="Calibri"/>
              </a:rPr>
              <a:t>m², plantas, zona geográfica (AMBA/Interior/Patagonia)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962656"/>
            <a:ext cx="347472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296265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2962656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7E8F9"/>
                </a:solidFill>
                <a:latin typeface="Calibri"/>
              </a:rPr>
              <a:t>Nivel de Terminación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310128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5B4CC"/>
                </a:solidFill>
                <a:latin typeface="Calibri"/>
              </a:rPr>
              <a:t>Económico · Estándar · Premium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666744"/>
            <a:ext cx="347472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366674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3666744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7E8F9"/>
                </a:solidFill>
                <a:latin typeface="Calibri"/>
              </a:rPr>
              <a:t>Instalaciones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014215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5B4CC"/>
                </a:solidFill>
                <a:latin typeface="Calibri"/>
              </a:rPr>
              <a:t>Eléctrica, plomería/sanitaria, gas, climatización (opcional)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370832"/>
            <a:ext cx="347472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437083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37083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7E8F9"/>
                </a:solidFill>
                <a:latin typeface="Calibri"/>
              </a:rPr>
              <a:t>Presupuesto Generado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4718304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5B4CC"/>
                </a:solidFill>
                <a:latin typeface="Calibri"/>
              </a:rPr>
              <a:t>Lista completa de materiales con cantidades y precios del día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074920"/>
            <a:ext cx="347472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50749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0749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7E8F9"/>
                </a:solidFill>
                <a:latin typeface="Calibri"/>
              </a:rPr>
              <a:t>Agregar al Carrito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5422392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5B4CC"/>
                </a:solidFill>
                <a:latin typeface="Calibri"/>
              </a:rPr>
              <a:t>Todo en un clic — pedido multi-proveedor inmediato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779008"/>
            <a:ext cx="347472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577900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577900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7E8F9"/>
                </a:solidFill>
                <a:latin typeface="Calibri"/>
              </a:rPr>
              <a:t>Solicitar Constructor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" y="612648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5B4CC"/>
                </a:solidFill>
                <a:latin typeface="Calibri"/>
              </a:rPr>
              <a:t>Opcional: constructor certificado ObraYa para ejecutar la obra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94960" y="1097280"/>
            <a:ext cx="3566160" cy="5486400"/>
          </a:xfrm>
          <a:prstGeom prst="rect">
            <a:avLst/>
          </a:prstGeom>
          <a:solidFill>
            <a:srgbClr val="0B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94960" y="1097280"/>
            <a:ext cx="356616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0" y="11887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  <a:latin typeface="Calibri"/>
              </a:rPr>
              <a:t>📊  Output del Presupuesto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166420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3C5FD"/>
                </a:solidFill>
                <a:latin typeface="Calibri"/>
              </a:rPr>
              <a:t>Casa habitación · 80 m² · Estándar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13248" y="2103120"/>
            <a:ext cx="3529584" cy="475488"/>
          </a:xfrm>
          <a:prstGeom prst="rect">
            <a:avLst/>
          </a:prstGeom>
          <a:solidFill>
            <a:srgbClr val="10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04688" y="2157984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⚪ Cemento Portland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06640" y="2157984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3C5FD"/>
                </a:solidFill>
                <a:latin typeface="Calibri"/>
              </a:rPr>
              <a:t>960 bolsas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79" y="215798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5A623"/>
                </a:solidFill>
                <a:latin typeface="Calibri"/>
              </a:rPr>
              <a:t>$6.528.000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13248" y="2615184"/>
            <a:ext cx="3529584" cy="475488"/>
          </a:xfrm>
          <a:prstGeom prst="rect">
            <a:avLst/>
          </a:prstGeom>
          <a:solidFill>
            <a:srgbClr val="0B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504688" y="267004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🔩 Hierro Ø10/12mm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40" y="267004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3C5FD"/>
                </a:solidFill>
                <a:latin typeface="Calibri"/>
              </a:rPr>
              <a:t>320 kg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79" y="267004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5A623"/>
                </a:solidFill>
                <a:latin typeface="Calibri"/>
              </a:rPr>
              <a:t>$1.344.000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13248" y="3127248"/>
            <a:ext cx="3529584" cy="475488"/>
          </a:xfrm>
          <a:prstGeom prst="rect">
            <a:avLst/>
          </a:prstGeom>
          <a:solidFill>
            <a:srgbClr val="10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504688" y="318211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🟦 Porcellanato 60×60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06640" y="318211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3C5FD"/>
                </a:solidFill>
                <a:latin typeface="Calibri"/>
              </a:rPr>
              <a:t>88 cajas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55279" y="31821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5A623"/>
                </a:solidFill>
                <a:latin typeface="Calibri"/>
              </a:rPr>
              <a:t>$334.400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13248" y="3639312"/>
            <a:ext cx="3529584" cy="475488"/>
          </a:xfrm>
          <a:prstGeom prst="rect">
            <a:avLst/>
          </a:prstGeom>
          <a:solidFill>
            <a:srgbClr val="0B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504688" y="3694176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🎨 Pintura látex int.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06640" y="3694176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3C5FD"/>
                </a:solidFill>
                <a:latin typeface="Calibri"/>
              </a:rPr>
              <a:t>24 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55279" y="369417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5A623"/>
                </a:solidFill>
                <a:latin typeface="Calibri"/>
              </a:rPr>
              <a:t>$300.000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13248" y="4151376"/>
            <a:ext cx="3529584" cy="475488"/>
          </a:xfrm>
          <a:prstGeom prst="rect">
            <a:avLst/>
          </a:prstGeom>
          <a:solidFill>
            <a:srgbClr val="10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504688" y="42062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⚡ Cable unipolar 2.5mm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06640" y="42062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3C5FD"/>
                </a:solidFill>
                <a:latin typeface="Calibri"/>
              </a:rPr>
              <a:t>200 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55279" y="4206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5A623"/>
                </a:solidFill>
                <a:latin typeface="Calibri"/>
              </a:rPr>
              <a:t>$196.000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13248" y="4663440"/>
            <a:ext cx="3529584" cy="475488"/>
          </a:xfrm>
          <a:prstGeom prst="rect">
            <a:avLst/>
          </a:prstGeom>
          <a:solidFill>
            <a:srgbClr val="0B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04688" y="4718303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🔧 Caño PVC sanitario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06640" y="4718303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3C5FD"/>
                </a:solidFill>
                <a:latin typeface="Calibri"/>
              </a:rPr>
              <a:t>48 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55279" y="4718303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5A623"/>
                </a:solidFill>
                <a:latin typeface="Calibri"/>
              </a:rPr>
              <a:t>$88.800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13248" y="5175504"/>
            <a:ext cx="3529584" cy="475488"/>
          </a:xfrm>
          <a:prstGeom prst="rect">
            <a:avLst/>
          </a:prstGeom>
          <a:solidFill>
            <a:srgbClr val="10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504688" y="523036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🪵 Puerta placa int.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06640" y="523036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3C5FD"/>
                </a:solidFill>
                <a:latin typeface="Calibri"/>
              </a:rPr>
              <a:t>5 unid.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955279" y="523036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5A623"/>
                </a:solidFill>
                <a:latin typeface="Calibri"/>
              </a:rPr>
              <a:t>$270.000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394960" y="5687568"/>
            <a:ext cx="3566160" cy="53035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486400" y="574243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TOTAL MATERIALES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98079" y="5742432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5A623"/>
                </a:solidFill>
                <a:latin typeface="Calibri"/>
              </a:rPr>
              <a:t>$9.420.000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189720" y="1097280"/>
            <a:ext cx="2743200" cy="5486400"/>
          </a:xfrm>
          <a:prstGeom prst="rect">
            <a:avLst/>
          </a:prstGeom>
          <a:solidFill>
            <a:srgbClr val="142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189720" y="1097280"/>
            <a:ext cx="2743200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281160" y="11887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🔨  Constructor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281160" y="1600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6EFAC"/>
                </a:solidFill>
                <a:latin typeface="Calibri"/>
              </a:rPr>
              <a:t>ObraYa asigna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235440" y="1965960"/>
            <a:ext cx="2633472" cy="1097280"/>
          </a:xfrm>
          <a:prstGeom prst="rect">
            <a:avLst/>
          </a:prstGeom>
          <a:solidFill>
            <a:srgbClr val="1C3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235440" y="1965960"/>
            <a:ext cx="2633472" cy="45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281160" y="20574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👷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738360" y="205740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Carlos Méndez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738360" y="24048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A623"/>
                </a:solidFill>
                <a:latin typeface="Calibri"/>
              </a:rPr>
              <a:t>★ 4.9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607040" y="240487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6EFAC"/>
                </a:solidFill>
                <a:latin typeface="Calibri"/>
              </a:rPr>
              <a:t>180 obras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281160" y="271576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$850/m²/m²  →  CONTRATAR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235440" y="3200400"/>
            <a:ext cx="2633472" cy="1097280"/>
          </a:xfrm>
          <a:prstGeom prst="rect">
            <a:avLst/>
          </a:prstGeom>
          <a:solidFill>
            <a:srgbClr val="1C3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235440" y="3200400"/>
            <a:ext cx="2633472" cy="45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281160" y="3291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👷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738360" y="329184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Jorge Sosa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738360" y="36393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A623"/>
                </a:solidFill>
                <a:latin typeface="Calibri"/>
              </a:rPr>
              <a:t>★ 4.7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607040" y="363931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6EFAC"/>
                </a:solidFill>
                <a:latin typeface="Calibri"/>
              </a:rPr>
              <a:t>142 obras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281160" y="395020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$780/m²/m²  →  CONTRATAR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235440" y="4434840"/>
            <a:ext cx="2633472" cy="1097280"/>
          </a:xfrm>
          <a:prstGeom prst="rect">
            <a:avLst/>
          </a:prstGeom>
          <a:solidFill>
            <a:srgbClr val="1C3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235440" y="4434840"/>
            <a:ext cx="2633472" cy="45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281160" y="45262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👷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738360" y="4526279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Marta Ruiz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738360" y="48737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A623"/>
                </a:solidFill>
                <a:latin typeface="Calibri"/>
              </a:rPr>
              <a:t>★ 4.8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607040" y="48737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6EFAC"/>
                </a:solidFill>
                <a:latin typeface="Calibri"/>
              </a:rPr>
              <a:t>98 obras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281160" y="518464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$820/m²/m²  →  CONTRATAR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189720" y="5687568"/>
            <a:ext cx="2743200" cy="530352"/>
          </a:xfrm>
          <a:prstGeom prst="rect">
            <a:avLst/>
          </a:prstGeom>
          <a:solidFill>
            <a:srgbClr val="056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281160" y="574243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BBF7D0"/>
                </a:solidFill>
                <a:latin typeface="Calibri"/>
              </a:rPr>
              <a:t>✓ Chat integrado</a:t>
            </a:r>
          </a:p>
          <a:p>
            <a:pPr>
              <a:spcAft>
                <a:spcPts val="0"/>
              </a:spcAft>
            </a:pPr>
            <a:r>
              <a:rPr sz="900" b="0">
                <a:solidFill>
                  <a:srgbClr val="BBF7D0"/>
                </a:solidFill>
                <a:latin typeface="Calibri"/>
              </a:rPr>
              <a:t>✓ Seña por escrow</a:t>
            </a:r>
          </a:p>
          <a:p>
            <a:pPr>
              <a:spcAft>
                <a:spcPts val="0"/>
              </a:spcAft>
            </a:pPr>
            <a:r>
              <a:rPr sz="900" b="0">
                <a:solidFill>
                  <a:srgbClr val="BBF7D0"/>
                </a:solidFill>
                <a:latin typeface="Calibri"/>
              </a:rPr>
              <a:t>✓ Hitos fotovalidados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97280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Calibri"/>
              </a:rPr>
              <a:t>9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